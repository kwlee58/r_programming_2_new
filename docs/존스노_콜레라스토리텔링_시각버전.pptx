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56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평면도, 도표, 개략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B6118D-438E-4AC9-3AFC-4ABFB70744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914400" y="0"/>
            <a:ext cx="73152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존 스노와 1854년 콜레라 사태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“데이터로 세상을 구한 한 의사”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2833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19세기 런던 지도]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1854년 런던의 거리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 err="1"/>
              <a:t>산업혁명</a:t>
            </a:r>
            <a:r>
              <a:rPr sz="2200" dirty="0"/>
              <a:t> </a:t>
            </a:r>
            <a:r>
              <a:rPr sz="2200" dirty="0" err="1"/>
              <a:t>이후</a:t>
            </a:r>
            <a:r>
              <a:rPr sz="2200" dirty="0"/>
              <a:t> </a:t>
            </a:r>
            <a:r>
              <a:rPr sz="2200" dirty="0" err="1"/>
              <a:t>런던은</a:t>
            </a:r>
            <a:r>
              <a:rPr sz="2200" dirty="0"/>
              <a:t> </a:t>
            </a:r>
            <a:r>
              <a:rPr sz="2200" dirty="0" err="1"/>
              <a:t>인구로</a:t>
            </a:r>
            <a:r>
              <a:rPr sz="2200" dirty="0"/>
              <a:t> </a:t>
            </a:r>
            <a:r>
              <a:rPr sz="2200" dirty="0" err="1"/>
              <a:t>넘쳤습니다</a:t>
            </a:r>
            <a:r>
              <a:rPr sz="2200" dirty="0"/>
              <a:t>.</a:t>
            </a:r>
          </a:p>
          <a:p>
            <a:r>
              <a:rPr sz="2200" dirty="0" err="1"/>
              <a:t>하수는</a:t>
            </a:r>
            <a:r>
              <a:rPr sz="2200" dirty="0"/>
              <a:t> </a:t>
            </a:r>
            <a:r>
              <a:rPr sz="2200" dirty="0" err="1"/>
              <a:t>길거리로</a:t>
            </a:r>
            <a:r>
              <a:rPr sz="2200" dirty="0"/>
              <a:t> </a:t>
            </a:r>
            <a:r>
              <a:rPr sz="2200" dirty="0" err="1"/>
              <a:t>흘러들었고</a:t>
            </a:r>
            <a:r>
              <a:rPr sz="2200" dirty="0"/>
              <a:t>, </a:t>
            </a:r>
            <a:r>
              <a:rPr sz="2200" dirty="0" err="1"/>
              <a:t>악취가</a:t>
            </a:r>
            <a:r>
              <a:rPr sz="2200" dirty="0"/>
              <a:t> </a:t>
            </a:r>
            <a:r>
              <a:rPr sz="2200" dirty="0" err="1"/>
              <a:t>공기를</a:t>
            </a:r>
            <a:r>
              <a:rPr sz="2200" dirty="0"/>
              <a:t> </a:t>
            </a:r>
            <a:r>
              <a:rPr sz="2200" dirty="0" err="1"/>
              <a:t>메웠습니다</a:t>
            </a:r>
            <a:r>
              <a:rPr sz="22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빅토리아 시대 거리 사진]</a:t>
            </a:r>
          </a:p>
        </p:txBody>
      </p:sp>
      <p:pic>
        <p:nvPicPr>
          <p:cNvPr id="6" name="그림 5" descr="야외, 건물, 카트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747765-E327-0715-D2A4-0E32A4A7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662" y="2628900"/>
            <a:ext cx="34417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공포의 질병 ‘콜레라’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원인을 모르는 죽음이 하루에도 수십 명씩 쌓여갔습니다.</a:t>
            </a:r>
          </a:p>
          <a:p>
            <a:r>
              <a:rPr sz="2200"/>
              <a:t>사람들은 ‘공기가 썩었다’고 믿었습니다.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신문풍 질병 삽화]</a:t>
            </a:r>
          </a:p>
        </p:txBody>
      </p:sp>
      <p:pic>
        <p:nvPicPr>
          <p:cNvPr id="8" name="그림 7" descr="예술, 페인팅, 그림, 박물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EED560-BE48-30B9-4681-BD0031C0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82" y="2757375"/>
            <a:ext cx="6252051" cy="3460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‘악기설(Miasma Theory)’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“더러운 공기, 악취가 병을 퍼뜨린다.”</a:t>
            </a:r>
          </a:p>
          <a:p>
            <a:r>
              <a:rPr sz="2200"/>
              <a:t>당시 모든 의사와 관리들이 이 설명을 믿고 있었습니다.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연기로 뒤덮인 도시 일러스트]</a:t>
            </a:r>
          </a:p>
        </p:txBody>
      </p:sp>
      <p:pic>
        <p:nvPicPr>
          <p:cNvPr id="6" name="그림 5" descr="텍스트, 페인팅, 그림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6F1CB4-71C2-976B-1CF2-6E6760A55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84" y="2726188"/>
            <a:ext cx="4614530" cy="3691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의사 존 스노의 의문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4048" y="2977116"/>
            <a:ext cx="42955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/>
              <a:t>“</a:t>
            </a:r>
            <a:r>
              <a:rPr sz="2200" dirty="0" err="1"/>
              <a:t>정말</a:t>
            </a:r>
            <a:r>
              <a:rPr sz="2200" dirty="0"/>
              <a:t> </a:t>
            </a:r>
            <a:r>
              <a:rPr sz="2200" dirty="0" err="1"/>
              <a:t>공기가</a:t>
            </a:r>
            <a:r>
              <a:rPr sz="2200" dirty="0"/>
              <a:t> </a:t>
            </a:r>
            <a:r>
              <a:rPr sz="2200" dirty="0" err="1"/>
              <a:t>원인일까</a:t>
            </a:r>
            <a:r>
              <a:rPr sz="2200" dirty="0"/>
              <a:t>?”</a:t>
            </a:r>
          </a:p>
          <a:p>
            <a:r>
              <a:rPr sz="2200" dirty="0" err="1"/>
              <a:t>스노는</a:t>
            </a:r>
            <a:r>
              <a:rPr sz="2200" dirty="0"/>
              <a:t> </a:t>
            </a:r>
            <a:r>
              <a:rPr sz="2200" dirty="0" err="1"/>
              <a:t>환자</a:t>
            </a:r>
            <a:r>
              <a:rPr sz="2200" dirty="0"/>
              <a:t> </a:t>
            </a:r>
            <a:r>
              <a:rPr sz="2200" dirty="0" err="1"/>
              <a:t>기록을</a:t>
            </a:r>
            <a:r>
              <a:rPr sz="2200" dirty="0"/>
              <a:t> </a:t>
            </a:r>
            <a:r>
              <a:rPr sz="2200" dirty="0" err="1"/>
              <a:t>모아</a:t>
            </a:r>
            <a:r>
              <a:rPr sz="2200" dirty="0"/>
              <a:t> </a:t>
            </a:r>
            <a:r>
              <a:rPr sz="2200" dirty="0" err="1"/>
              <a:t>지도를</a:t>
            </a:r>
            <a:r>
              <a:rPr sz="2200" dirty="0"/>
              <a:t> </a:t>
            </a:r>
            <a:r>
              <a:rPr sz="2200" dirty="0" err="1"/>
              <a:t>펼쳤습니다</a:t>
            </a:r>
            <a:r>
              <a:rPr sz="22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존 스노 초상화]</a:t>
            </a:r>
          </a:p>
        </p:txBody>
      </p:sp>
      <p:pic>
        <p:nvPicPr>
          <p:cNvPr id="6" name="그림 5" descr="의류, 사람, 인간의 얼굴, 인물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1A0DA0-7124-CD74-2A2E-E650B7C15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3" y="1609852"/>
            <a:ext cx="3110241" cy="4565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평면도, 도표, 개략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46DB7C-4251-0A85-8EE4-D4B40931F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-29904"/>
            <a:ext cx="7347098" cy="688790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지도로 본 소호 지역의 사망자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점 하나가 한 사람의 죽음을 의미했습니다.</a:t>
            </a:r>
          </a:p>
          <a:p>
            <a:r>
              <a:rPr sz="2200"/>
              <a:t>펌프 주변으로 검은 점이 모였습니다.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Broad Street 지도]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Broad Street 펌프 손잡이 제거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스노는 구청에 요청했습니다.</a:t>
            </a:r>
          </a:p>
          <a:p>
            <a:r>
              <a:rPr sz="2200"/>
              <a:t>“이 펌프의 손잡이를 잠시 없애 봅시다.”</a:t>
            </a:r>
          </a:p>
          <a:p>
            <a:r>
              <a:rPr sz="2200"/>
              <a:t>며칠 뒤, 사망이 멈췄습니다.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펌프 실물 사진]</a:t>
            </a:r>
          </a:p>
        </p:txBody>
      </p:sp>
      <p:pic>
        <p:nvPicPr>
          <p:cNvPr id="6" name="그림 5" descr="스케치, 그림, 사람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1A438F-12D1-2044-498F-B6726A752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32" y="2825484"/>
            <a:ext cx="4912242" cy="3929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데이터가 보여준 진실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 err="1"/>
              <a:t>깨끗한</a:t>
            </a:r>
            <a:r>
              <a:rPr sz="2200" dirty="0"/>
              <a:t> </a:t>
            </a:r>
            <a:r>
              <a:rPr sz="2200" dirty="0" err="1"/>
              <a:t>수도</a:t>
            </a:r>
            <a:r>
              <a:rPr sz="2200" dirty="0"/>
              <a:t> </a:t>
            </a:r>
            <a:r>
              <a:rPr sz="2200" dirty="0" err="1"/>
              <a:t>회사의</a:t>
            </a:r>
            <a:r>
              <a:rPr sz="2200" dirty="0"/>
              <a:t> </a:t>
            </a:r>
            <a:r>
              <a:rPr sz="2200" dirty="0" err="1"/>
              <a:t>가구</a:t>
            </a:r>
            <a:r>
              <a:rPr sz="2200" dirty="0"/>
              <a:t> </a:t>
            </a:r>
            <a:r>
              <a:rPr sz="2200" dirty="0" err="1"/>
              <a:t>사망률</a:t>
            </a:r>
            <a:r>
              <a:rPr sz="2200" dirty="0"/>
              <a:t> 5명,</a:t>
            </a:r>
          </a:p>
          <a:p>
            <a:r>
              <a:rPr sz="2200" dirty="0" err="1"/>
              <a:t>오염된</a:t>
            </a:r>
            <a:r>
              <a:rPr sz="2200" dirty="0"/>
              <a:t> </a:t>
            </a:r>
            <a:r>
              <a:rPr sz="2200" dirty="0" err="1"/>
              <a:t>수도</a:t>
            </a:r>
            <a:r>
              <a:rPr sz="2200" dirty="0"/>
              <a:t> </a:t>
            </a:r>
            <a:r>
              <a:rPr sz="2200" dirty="0" err="1"/>
              <a:t>회사는</a:t>
            </a:r>
            <a:r>
              <a:rPr sz="2200" dirty="0"/>
              <a:t> 300명 </a:t>
            </a:r>
            <a:r>
              <a:rPr sz="2200" dirty="0" err="1"/>
              <a:t>이상</a:t>
            </a:r>
            <a:r>
              <a:rPr sz="2200" dirty="0"/>
              <a:t>.</a:t>
            </a:r>
          </a:p>
          <a:p>
            <a:r>
              <a:rPr sz="2200" dirty="0" err="1"/>
              <a:t>숫자가</a:t>
            </a:r>
            <a:r>
              <a:rPr sz="2200" dirty="0"/>
              <a:t> </a:t>
            </a:r>
            <a:r>
              <a:rPr sz="2200" dirty="0" err="1"/>
              <a:t>모든</a:t>
            </a:r>
            <a:r>
              <a:rPr sz="2200" dirty="0"/>
              <a:t> </a:t>
            </a:r>
            <a:r>
              <a:rPr sz="2200" dirty="0" err="1"/>
              <a:t>것을</a:t>
            </a:r>
            <a:r>
              <a:rPr sz="2200" dirty="0"/>
              <a:t> </a:t>
            </a:r>
            <a:r>
              <a:rPr sz="2200" dirty="0" err="1"/>
              <a:t>설명했습니다</a:t>
            </a:r>
            <a:r>
              <a:rPr sz="22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손그림형 그래프]</a:t>
            </a:r>
          </a:p>
        </p:txBody>
      </p:sp>
      <p:pic>
        <p:nvPicPr>
          <p:cNvPr id="10" name="그림 9" descr="텍스트, 영수증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54366D-9BB6-557E-800A-DAD6D1B23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2" y="3200400"/>
            <a:ext cx="7638936" cy="25865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과학적 탐구의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가설 (공기가 아니라 물) → 예측 → 관찰 → 검증.</a:t>
            </a:r>
          </a:p>
          <a:p>
            <a:r>
              <a:rPr sz="2200"/>
              <a:t>스노는 과학적 탐구의 길을 걸었습니다.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탐구 단계 도식]</a:t>
            </a:r>
          </a:p>
        </p:txBody>
      </p:sp>
      <p:pic>
        <p:nvPicPr>
          <p:cNvPr id="6" name="그림 5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5ADE9F-3F13-6508-4EB8-8A10363AE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34" y="2819400"/>
            <a:ext cx="61595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그 후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런던은 하수도 공사를 시작했습니다.</a:t>
            </a:r>
          </a:p>
          <a:p>
            <a:r>
              <a:rPr sz="2200"/>
              <a:t>‘깨끗한 물’이 보건의 기본이 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Bazalgette 하수도 설계도]</a:t>
            </a:r>
          </a:p>
        </p:txBody>
      </p:sp>
      <p:pic>
        <p:nvPicPr>
          <p:cNvPr id="6" name="그림 5" descr="야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91438-D5DC-3262-6DE4-AE04BB01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434" y="2651760"/>
            <a:ext cx="4991934" cy="3474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오늘날의 의미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데이터 시각화, 자연실험, 공공보건 –</a:t>
            </a:r>
          </a:p>
          <a:p>
            <a:r>
              <a:rPr sz="2200"/>
              <a:t>모두 스노가 남긴 유산입니다.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현대 런던 거리]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요약 및 토론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/>
              <a:t>“데이터는 사람을 살린다.”</a:t>
            </a:r>
          </a:p>
          <a:p>
            <a:r>
              <a:rPr sz="2200"/>
              <a:t>왜 그의 발견은 즉시 받아들여지지 못했을까?</a:t>
            </a:r>
          </a:p>
          <a:p>
            <a:r>
              <a:rPr sz="2200"/>
              <a:t>오늘날 우리가 배워야 할 점은?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3C1E"/>
                </a:solidFill>
              </a:rPr>
              <a:t>[이미지: 세피아 배경 + 명언]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5673</TotalTime>
  <Words>317</Words>
  <Application>Microsoft Macintosh PowerPoint</Application>
  <PresentationFormat>화면 슬라이드 쇼(4:3)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LeeKee-Won</cp:lastModifiedBy>
  <cp:revision>2</cp:revision>
  <dcterms:created xsi:type="dcterms:W3CDTF">2013-01-27T09:14:16Z</dcterms:created>
  <dcterms:modified xsi:type="dcterms:W3CDTF">2025-11-09T03:58:06Z</dcterms:modified>
  <cp:category/>
</cp:coreProperties>
</file>